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cc7fdd43-e7e3-1459-535b-8b7d23cfeb3d}">
          <p14:sldIdLst>
            <p14:sldId id="256"/>
          </p14:sldIdLst>
        </p14:section>
        <p14:section name="Problem" id="{f7936496-54c2-ae6b-ccac-cc07f6dc9732}">
          <p14:sldIdLst>
            <p14:sldId id="257"/>
          </p14:sldIdLst>
        </p14:section>
        <p14:section name="Design" id="{a258d7c3-fa5b-f31a-7de2-e78c450bd1c7}">
          <p14:sldIdLst>
            <p14:sldId id="258"/>
          </p14:sldIdLst>
        </p14:section>
        <p14:section name="Implementation" id="{236c4f5f-2920-d2c9-dfd0-e9b915307678}">
          <p14:sldIdLst>
            <p14:sldId id="259"/>
          </p14:sldIdLst>
        </p14:section>
        <p14:section name="Results" id="{89c5455a-975a-21fd-da65-8499407ab113}">
          <p14:sldIdLst>
            <p14:sldId id="260"/>
          </p14:sldIdLst>
        </p14:section>
        <p14:section name="Impact" id="{38eaa458-145a-053c-c80d-69c024c489c6}">
          <p14:sldIdLst>
            <p14:sldId id="261"/>
          </p14:sldIdLst>
        </p14:section>
        <p14:section name="Limits" id="{24a4ed9b-126b-d416-ba6c-43fb34d29cf6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2233"/>
                </a:solidFill>
                <a:latin typeface="+mn-lt"/>
              </a:rPr>
              <a:t>Sentiment macro-F1 · 1,432 locked test posts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9AA8B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8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VADER</c:v>
                  </c:pt>
                  <c:pt idx="1">
                    <c:v>FinBERT (pretrained)</c:v>
                  </c:pt>
                  <c:pt idx="2">
                    <c:v>FinBERT fine-tuned 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0.445</c:v>
                </c:pt>
                <c:pt idx="1">
                  <c:v>0.64</c:v>
                </c:pt>
                <c:pt idx="2">
                  <c:v>0.8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one-line pitch: the system reads financial news as it arrives, turns each headline into a structured risk signal, and acts on it twice: rebalancing an index and stress-testing a bank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 in your own words. Then walk the four steps: ingest, understand, score, act. Mention both downstream modules are implemented, not just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flow: sources, ingestion, the NLP engine, the structured JSON signal, delivery, then Module A and Module B feeding the dashboard. Then the four engineering choices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to explain: abstention ('Other') is what makes the live feed trustworthy; Module B reprices with real fixed-income sensitivities; the evaluation never touches the locked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sentiment gain: same locked test set for all three models, never used in training. Then event classification: the blind-labelled live headlines are the most credible number because nothing was tuned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domain slide, and it decides ties. Explain who uses it: a market-risk or credit-risk desk at a bank. The example is what the live demo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plainly; it builds credibility. The tweet study is the interesting finding: positive social chatter tended to precede slightly weaker returns, consistently across both halves of the data and with a second method. We did not change Module A after seeing it, because that would be fitting to the result; it is the first thing to test on new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Lakshay Gupta · IIIT-Delhi · S&amp;P Global &amp; Crisil Campus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</a:rPr>
              <a:t>S&amp;P GLOBAL &amp; CRISIL CAMPUS HACKATHON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Risk Intelligence Platform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E0"/>
                </a:solidFill>
              </a:rPr>
              <a:t>Real-time AI/NLP risk signals from news and social media, driving tactical index rebalancing and event-driven portfolio stress testing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Sentiment macro-F1 0.80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0" y="397764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1F9E89"/>
          </a:solidFill>
          <a:ln w="12700">
            <a:solidFill>
              <a:srgbClr val="1F9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Both modules built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397764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49 automated tests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377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Lakshay Gupta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</a:rPr>
              <a:t>Indraprastha Institute of Information Technology Delhi (IIIT-Delhi)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</a:rPr>
              <a:t>lakshay24318@iiitd.ac.in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moves at headline speed; risk reports don't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B6B82"/>
                </a:solidFill>
              </a:rPr>
              <a:t>Market-moving events arrive as unstructured text: news, filings, social posts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B6B82"/>
                </a:solidFill>
              </a:rPr>
              <a:t>Analysts cannot read everything, and keyword alerts are noisy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B6B82"/>
                </a:solidFill>
              </a:rPr>
              <a:t>Stress tests run on a quarterly calendar, not when the event happens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3"/>
                </a:solidFill>
              </a:rPr>
              <a:t>Goal: turn text into structured, explainable risk signals and act on them in seconds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</a:rPr>
              <a:t>The approach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2103120"/>
            <a:ext cx="384048" cy="384048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Ingest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10 live RSS feeds + social stream; freshness filter and de-dup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3108960"/>
            <a:ext cx="384048" cy="384048"/>
          </a:xfrm>
          <a:prstGeom prst="ellipse">
            <a:avLst/>
          </a:prstGeom>
          <a:solidFill>
            <a:srgbClr val="1F9E89"/>
          </a:solidFill>
          <a:ln w="12700">
            <a:solidFill>
              <a:srgbClr val="1F9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063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Understand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Fine-tuned FinBERT sentiment, event class (keywords → NLI), tickers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41148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069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Score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Explainable 1–10 impact: severity, novelty, breadth,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5120640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Act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Module A rebalances an index; Module B stress-tests a $100M book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design: one engine, two consumers</a:t>
            </a:r>
            <a:endParaRPr lang="en-US" sz="3200" dirty="0"/>
          </a:p>
        </p:txBody>
      </p:sp>
      <p:pic>
        <p:nvPicPr>
          <p:cNvPr id="3" name="architecture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309360" cy="5001768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223760" y="1325880"/>
            <a:ext cx="4434840" cy="1069848"/>
          </a:xfrm>
          <a:prstGeom prst="roundRect">
            <a:avLst>
              <a:gd name="adj" fmla="val 683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6640" y="1508760"/>
            <a:ext cx="201168" cy="201168"/>
          </a:xfrm>
          <a:prstGeom prst="ellipse">
            <a:avLst/>
          </a:prstGeom>
          <a:solidFill>
            <a:srgbClr val="1F9E89"/>
          </a:solidFill>
          <a:ln w="12700">
            <a:solidFill>
              <a:srgbClr val="1F9E8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4356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Non-blocking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Models run in a worker thread with an inference lock; the API and dashboard stay responsive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7223760" y="2532888"/>
            <a:ext cx="4434840" cy="1069848"/>
          </a:xfrm>
          <a:prstGeom prst="roundRect">
            <a:avLst>
              <a:gd name="adj" fmla="val 683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2715768"/>
            <a:ext cx="201168" cy="2011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264261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Two outputs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Every signal goes to REST + WebSocket and to a JSONL file, as the brief allows either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7223760" y="3739896"/>
            <a:ext cx="4434840" cy="1069848"/>
          </a:xfrm>
          <a:prstGeom prst="roundRect">
            <a:avLst>
              <a:gd name="adj" fmla="val 683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06640" y="3922776"/>
            <a:ext cx="201168" cy="201168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384962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Fails safe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No feeds? Bundled headlines replay. Fine-tuned model missing? Falls back to base FinBERT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7223760" y="4946904"/>
            <a:ext cx="4434840" cy="1069848"/>
          </a:xfrm>
          <a:prstGeom prst="roundRect">
            <a:avLst>
              <a:gd name="adj" fmla="val 683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06640" y="5129784"/>
            <a:ext cx="201168" cy="20116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50566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Duplicates suppressed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Near-identical headlines (cosine ≥ 0.80) never move weights or trigger a second stress test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 and why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1F9E89"/>
          </a:solidFill>
          <a:ln w="12700">
            <a:solidFill>
              <a:srgbClr val="1F9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Fine-tuned FinBERT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Trained on 8,111 finance posts; locked test set never used for checkpoint selection; score = P(pos) − P(neg)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48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Classifier that abstains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Precise regex rules first, DeBERTa NLI for the rest; below 0.45 confidence it says “Other” instead of guessing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600200"/>
            <a:ext cx="384048" cy="384048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48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Explainable impact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Five transparent factors with fixed weights; every signal shows its point-by-point breakdown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1F9E89"/>
          </a:solidFill>
          <a:ln w="12700">
            <a:solidFill>
              <a:srgbClr val="1F9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Module A controls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Dead-band, 2–15% bounds, 3% turnover cap, 5-day decay to equal weight, 5 bp costs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3977640"/>
            <a:ext cx="384048" cy="38404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Module B realism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Duration, DV01/CS01, rating spread betas; rates hit the whole book; trigger needs impact ≥ 7 and risk-off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3977640"/>
            <a:ext cx="384048" cy="384048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5262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Engineering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49 offline tests incl. end-to-end API; pinned dependencies; one script regenerates every result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+0.16 macro-F1 over FinBERT, 2× baseline on events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Accuracy 48.2% → 69.0% → 83.5% (majority class 64.7%)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Event classification accuracy vs always-guess-majority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675120" y="17830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7830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9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64.9%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189280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</a:rPr>
              <a:t>vs 32.4%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Fresh live headlines, labelled blind (n=37)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675120" y="29260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29260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9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77.8%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03580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</a:rPr>
              <a:t>vs 50.0%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Historical holdout (n=18)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675120" y="40690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40690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9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74.1%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417880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</a:rPr>
              <a:t>vs 51.9%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Historical tuning (n=27)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5257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100% recall on Geopolitical and Credit Event (the classes that trigger stress tests) · ticker recall 75%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impact: from headline to stress test in seconds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</a:rPr>
              <a:t>Live example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“China blockade of Taiwan Strait sparks military standoff; TSMC, NVIDIA and Apple shares plunge as sanctions loom”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</a:rPr>
              <a:t>Geopolitical · impact ≈ 8/10 · TSM, NVDA, AAPL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</a:rPr>
              <a:t>Stress test triggered automatically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−6%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794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of a $100M wholesale book: about $6M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</a:rPr>
              <a:t>Technology 64% of gross loss · bonds 53%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</a:rPr>
              <a:t>CDS protection offsets part of it · loss explained per position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492240" y="13258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508760"/>
            <a:ext cx="384048" cy="384048"/>
          </a:xfrm>
          <a:prstGeom prst="ellipse">
            <a:avLst/>
          </a:prstGeom>
          <a:solidFill>
            <a:srgbClr val="1F9E89"/>
          </a:solidFill>
          <a:ln w="12700">
            <a:solidFill>
              <a:srgbClr val="1F9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48132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Early warning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Every headline scored in about a second, with a factor breakdown an analyst can audit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492240" y="29260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10896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08152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Event-driven stress testing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Scenarios run when the event happens, not on a quarterly calendar; attributed by sector, asset and position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6492240" y="45262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4709160"/>
            <a:ext cx="384048" cy="384048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68172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Trustworthy by design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Abstains when unsure, suppresses duplicates, never stresses on good news, keeps working offline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evidence, limits and next steps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</a:rPr>
              <a:t>What the market evidence shows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82"/>
                </a:solidFill>
              </a:rPr>
              <a:t>Tweets (8,364 scored, 916 stock-days, 2017–18): weak but consistent contrarian signal, IC −0.06 to −0.09 over 1–3 days, negative in both halves; TextBlob agrees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82"/>
                </a:solidFill>
              </a:rPr>
              <a:t>So a momentum tilt is the wrong sign for social data: Module A replay ties the benchmark (+0.11 pp)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82"/>
                </a:solidFill>
              </a:rPr>
              <a:t>News headlines: direction 51% on 45 events, a coin flip at this n; impact score is triage, not a forecast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82"/>
                </a:solidFill>
              </a:rPr>
              <a:t>Module B uses first-order sensitivities; social feed is a replay, not a live API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057400"/>
            <a:ext cx="384048" cy="384048"/>
          </a:xfrm>
          <a:prstGeom prst="ellipse">
            <a:avLst/>
          </a:prstGeom>
          <a:solidFill>
            <a:srgbClr val="1F9E89"/>
          </a:solidFill>
          <a:ln w="12700">
            <a:solidFill>
              <a:srgbClr val="1F9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1168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Test a contrarian tilt for social sources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On later, unseen data (2019+), with news signals kept separate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333756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Calibrate impact on a larger archive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Fit impact weights to thousands of dated headlines and realised moves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4709160"/>
            <a:ext cx="384048" cy="384048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46634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2233"/>
                </a:solidFill>
              </a:rPr>
              <a:t>Credit losses, not just mark-to-market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2"/>
                </a:solidFill>
              </a:rPr>
              <a:t>Add PD/LGD and rating migration to Module B; connect a live social API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5669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Everything above is reproducible: bash scripts/reproduce_results.sh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 Signal">
  <a:themeElements>
    <a:clrScheme name="Risk Signal">
      <a:dk1>
        <a:srgbClr val="1A2233"/>
      </a:dk1>
      <a:lt1>
        <a:srgbClr val="FFFFFF"/>
      </a:lt1>
      <a:dk2>
        <a:srgbClr val="0E1A2B"/>
      </a:dk2>
      <a:lt2>
        <a:srgbClr val="F1F4F8"/>
      </a:lt2>
      <a:accent1>
        <a:srgbClr val="E8A33D"/>
      </a:accent1>
      <a:accent2>
        <a:srgbClr val="1F9E89"/>
      </a:accent2>
      <a:accent3>
        <a:srgbClr val="D9534F"/>
      </a:accent3>
      <a:accent4>
        <a:srgbClr val="5B6B82"/>
      </a:accent4>
      <a:accent5>
        <a:srgbClr val="9AA8BC"/>
      </a:accent5>
      <a:accent6>
        <a:srgbClr val="2D4A6E"/>
      </a:accent6>
      <a:hlink>
        <a:srgbClr val="1F9E89"/>
      </a:hlink>
      <a:folHlink>
        <a:srgbClr val="5B6B82"/>
      </a:folHlink>
    </a:clrScheme>
    <a:fontScheme name="Risk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Risk Intelligence Platform</dc:title>
  <dc:subject>PptxGenJS Presentation</dc:subject>
  <dc:creator>Lakshay Gupta</dc:creator>
  <cp:lastModifiedBy>Lakshay Gupta</cp:lastModifiedBy>
  <cp:revision>1</cp:revision>
  <dcterms:created xsi:type="dcterms:W3CDTF">2026-10-11T09:10:54Z</dcterms:created>
  <dcterms:modified xsi:type="dcterms:W3CDTF">2026-10-11T09:10:54Z</dcterms:modified>
</cp:coreProperties>
</file>